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10/23/2025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dirty="0"/>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10/23/2025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5700D-F39C-4D06-A3BE-583BE92E9318}"/>
              </a:ext>
            </a:extLst>
          </p:cNvPr>
          <p:cNvSpPr>
            <a:spLocks noGrp="1"/>
          </p:cNvSpPr>
          <p:nvPr>
            <p:ph type="ctrTitle"/>
          </p:nvPr>
        </p:nvSpPr>
        <p:spPr>
          <a:xfrm>
            <a:off x="2692399" y="1942338"/>
            <a:ext cx="6663358" cy="1515533"/>
          </a:xfrm>
        </p:spPr>
        <p:txBody>
          <a:bodyPr/>
          <a:lstStyle/>
          <a:p>
            <a:r>
              <a:rPr lang="en-PH" dirty="0"/>
              <a:t>God’s Grace and Protection</a:t>
            </a:r>
          </a:p>
        </p:txBody>
      </p:sp>
      <p:sp>
        <p:nvSpPr>
          <p:cNvPr id="3" name="Subtitle 2">
            <a:extLst>
              <a:ext uri="{FF2B5EF4-FFF2-40B4-BE49-F238E27FC236}">
                <a16:creationId xmlns:a16="http://schemas.microsoft.com/office/drawing/2014/main" id="{5C20D3F4-BCDE-4E3D-9A17-DDF9B521EE8E}"/>
              </a:ext>
            </a:extLst>
          </p:cNvPr>
          <p:cNvSpPr>
            <a:spLocks noGrp="1"/>
          </p:cNvSpPr>
          <p:nvPr>
            <p:ph type="subTitle" idx="1"/>
          </p:nvPr>
        </p:nvSpPr>
        <p:spPr>
          <a:xfrm>
            <a:off x="2807901" y="3705723"/>
            <a:ext cx="6826987" cy="1674799"/>
          </a:xfrm>
        </p:spPr>
        <p:txBody>
          <a:bodyPr>
            <a:normAutofit fontScale="92500" lnSpcReduction="20000"/>
          </a:bodyPr>
          <a:lstStyle/>
          <a:p>
            <a:pPr algn="l"/>
            <a:r>
              <a:rPr lang="en-US" sz="2800" dirty="0">
                <a:solidFill>
                  <a:srgbClr val="FF0000"/>
                </a:solidFill>
              </a:rPr>
              <a:t>Psalms 91:1-2</a:t>
            </a:r>
          </a:p>
          <a:p>
            <a:pPr algn="l"/>
            <a:r>
              <a:rPr lang="en-US" sz="1800" b="0" i="0" u="none" strike="noStrike" baseline="0" dirty="0">
                <a:latin typeface="Verdana" panose="020B0604030504040204" pitchFamily="34" charset="0"/>
              </a:rPr>
              <a:t>He that dwelleth in the secret place of the most High shall abide under the shadow of the Almighty.</a:t>
            </a:r>
          </a:p>
          <a:p>
            <a:pPr algn="l"/>
            <a:r>
              <a:rPr lang="en-US" sz="1800" dirty="0">
                <a:latin typeface="Verdana" panose="020B0604030504040204" pitchFamily="34" charset="0"/>
              </a:rPr>
              <a:t>I will say of the Lord, He is my refuge and my fortress: my God; in him will I trust</a:t>
            </a:r>
            <a:endParaRPr lang="en-US" sz="1800" b="0" i="0" u="none" strike="noStrike" baseline="0" dirty="0">
              <a:latin typeface="Verdana" panose="020B0604030504040204" pitchFamily="34" charset="0"/>
            </a:endParaRPr>
          </a:p>
          <a:p>
            <a:endParaRPr lang="en-US" sz="1800" b="0" i="0" u="none" strike="noStrike" baseline="0" dirty="0">
              <a:latin typeface="Verdana" panose="020B0604030504040204" pitchFamily="34" charset="0"/>
            </a:endParaRPr>
          </a:p>
          <a:p>
            <a:endParaRPr lang="en-PH" sz="2800" dirty="0"/>
          </a:p>
        </p:txBody>
      </p:sp>
    </p:spTree>
    <p:extLst>
      <p:ext uri="{BB962C8B-B14F-4D97-AF65-F5344CB8AC3E}">
        <p14:creationId xmlns:p14="http://schemas.microsoft.com/office/powerpoint/2010/main" val="212885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A9275ED-08D9-46A4-B9F9-36A81BD60561}"/>
              </a:ext>
            </a:extLst>
          </p:cNvPr>
          <p:cNvSpPr txBox="1">
            <a:spLocks/>
          </p:cNvSpPr>
          <p:nvPr/>
        </p:nvSpPr>
        <p:spPr>
          <a:xfrm>
            <a:off x="844347" y="847020"/>
            <a:ext cx="7471880" cy="1674799"/>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en-US" sz="4000" dirty="0"/>
              <a:t>1. God’s Grace Saves Us from Sin</a:t>
            </a:r>
            <a:r>
              <a:rPr lang="en-US" sz="4800" dirty="0"/>
              <a:t> </a:t>
            </a:r>
            <a:endParaRPr lang="en-PH" sz="4000" dirty="0"/>
          </a:p>
        </p:txBody>
      </p:sp>
      <p:sp>
        <p:nvSpPr>
          <p:cNvPr id="6" name="TextBox 5">
            <a:extLst>
              <a:ext uri="{FF2B5EF4-FFF2-40B4-BE49-F238E27FC236}">
                <a16:creationId xmlns:a16="http://schemas.microsoft.com/office/drawing/2014/main" id="{D007EC7F-295F-454F-BF57-24021A731621}"/>
              </a:ext>
            </a:extLst>
          </p:cNvPr>
          <p:cNvSpPr txBox="1"/>
          <p:nvPr/>
        </p:nvSpPr>
        <p:spPr>
          <a:xfrm>
            <a:off x="1268127" y="1684419"/>
            <a:ext cx="9358163" cy="2062103"/>
          </a:xfrm>
          <a:prstGeom prst="rect">
            <a:avLst/>
          </a:prstGeom>
          <a:noFill/>
        </p:spPr>
        <p:txBody>
          <a:bodyPr wrap="square">
            <a:spAutoFit/>
          </a:bodyPr>
          <a:lstStyle/>
          <a:p>
            <a:r>
              <a:rPr lang="en-PH" sz="2400" dirty="0">
                <a:solidFill>
                  <a:srgbClr val="FF0000"/>
                </a:solidFill>
              </a:rPr>
              <a:t>Ephesians 2:8–9</a:t>
            </a:r>
          </a:p>
          <a:p>
            <a:endParaRPr lang="en-PH" sz="2400" dirty="0">
              <a:solidFill>
                <a:srgbClr val="FF0000"/>
              </a:solidFill>
            </a:endParaRPr>
          </a:p>
          <a:p>
            <a:r>
              <a:rPr lang="en-US" sz="2000" b="0" i="0" u="none" strike="noStrike" baseline="0" dirty="0">
                <a:latin typeface="Verdana" panose="020B0604030504040204" pitchFamily="34" charset="0"/>
              </a:rPr>
              <a:t>For by grace are ye saved through faith; and that not of yourselves: </a:t>
            </a:r>
            <a:r>
              <a:rPr lang="en-US" sz="2000" i="1" u="none" strike="noStrike" baseline="0" dirty="0">
                <a:latin typeface="Verdana" panose="020B0604030504040204" pitchFamily="34" charset="0"/>
              </a:rPr>
              <a:t>it is</a:t>
            </a:r>
            <a:r>
              <a:rPr lang="en-US" sz="2000" i="0" u="none" strike="noStrike" baseline="0" dirty="0">
                <a:latin typeface="Verdana" panose="020B0604030504040204" pitchFamily="34" charset="0"/>
              </a:rPr>
              <a:t> the gift of God:</a:t>
            </a:r>
          </a:p>
          <a:p>
            <a:r>
              <a:rPr lang="en-US" sz="2000" i="0" u="none" strike="noStrike" baseline="0" dirty="0">
                <a:latin typeface="Verdana" panose="020B0604030504040204" pitchFamily="34" charset="0"/>
              </a:rPr>
              <a:t>Not of works, lest any man should boast.</a:t>
            </a:r>
          </a:p>
          <a:p>
            <a:endParaRPr lang="en-PH" sz="2000" dirty="0">
              <a:solidFill>
                <a:srgbClr val="FF0000"/>
              </a:solidFill>
            </a:endParaRPr>
          </a:p>
        </p:txBody>
      </p:sp>
      <p:sp>
        <p:nvSpPr>
          <p:cNvPr id="9" name="TextBox 8">
            <a:extLst>
              <a:ext uri="{FF2B5EF4-FFF2-40B4-BE49-F238E27FC236}">
                <a16:creationId xmlns:a16="http://schemas.microsoft.com/office/drawing/2014/main" id="{242F7078-E0B6-4ECF-BB54-681CC100963C}"/>
              </a:ext>
            </a:extLst>
          </p:cNvPr>
          <p:cNvSpPr txBox="1"/>
          <p:nvPr/>
        </p:nvSpPr>
        <p:spPr>
          <a:xfrm>
            <a:off x="1268126" y="3746522"/>
            <a:ext cx="9358163" cy="1754326"/>
          </a:xfrm>
          <a:prstGeom prst="rect">
            <a:avLst/>
          </a:prstGeom>
          <a:noFill/>
        </p:spPr>
        <p:txBody>
          <a:bodyPr wrap="square">
            <a:spAutoFit/>
          </a:bodyPr>
          <a:lstStyle/>
          <a:p>
            <a:r>
              <a:rPr lang="en-PH" sz="2400" dirty="0">
                <a:solidFill>
                  <a:srgbClr val="FF0000"/>
                </a:solidFill>
              </a:rPr>
              <a:t>Titus 2:11–12</a:t>
            </a:r>
          </a:p>
          <a:p>
            <a:endParaRPr lang="en-PH" sz="2400" dirty="0">
              <a:solidFill>
                <a:srgbClr val="FF0000"/>
              </a:solidFill>
            </a:endParaRPr>
          </a:p>
          <a:p>
            <a:r>
              <a:rPr lang="en-US" sz="2000" b="0" i="0" u="none" strike="noStrike" baseline="0" dirty="0">
                <a:latin typeface="Verdana" panose="020B0604030504040204" pitchFamily="34" charset="0"/>
              </a:rPr>
              <a:t>For the grace of God that bringeth salvation hath appeared to all men, Teaching us that, denying ungodliness and worldly lusts, we should live soberly, righteously, and godly, in this present world.</a:t>
            </a:r>
            <a:endParaRPr lang="en-PH" sz="2000" dirty="0">
              <a:solidFill>
                <a:srgbClr val="FF0000"/>
              </a:solidFill>
            </a:endParaRPr>
          </a:p>
        </p:txBody>
      </p:sp>
    </p:spTree>
    <p:extLst>
      <p:ext uri="{BB962C8B-B14F-4D97-AF65-F5344CB8AC3E}">
        <p14:creationId xmlns:p14="http://schemas.microsoft.com/office/powerpoint/2010/main" val="3995900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25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25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wipe(down)">
                                      <p:cBhvr>
                                        <p:cTn id="10" dur="500"/>
                                        <p:tgtEl>
                                          <p:spTgt spid="6">
                                            <p:txEl>
                                              <p:pRg st="2" end="2"/>
                                            </p:txEl>
                                          </p:spTgt>
                                        </p:tgtEl>
                                      </p:cBhvr>
                                    </p:animEffect>
                                  </p:childTnLst>
                                </p:cTn>
                              </p:par>
                              <p:par>
                                <p:cTn id="11" presetID="22" presetClass="entr" presetSubtype="4" fill="hold" nodeType="withEffect">
                                  <p:stCondLst>
                                    <p:cond delay="25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wipe(down)">
                                      <p:cBhvr>
                                        <p:cTn id="13" dur="500"/>
                                        <p:tgtEl>
                                          <p:spTgt spid="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250"/>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wipe(down)">
                                      <p:cBhvr>
                                        <p:cTn id="18" dur="500"/>
                                        <p:tgtEl>
                                          <p:spTgt spid="9">
                                            <p:txEl>
                                              <p:pRg st="0" end="0"/>
                                            </p:txEl>
                                          </p:spTgt>
                                        </p:tgtEl>
                                      </p:cBhvr>
                                    </p:animEffect>
                                  </p:childTnLst>
                                </p:cTn>
                              </p:par>
                              <p:par>
                                <p:cTn id="19" presetID="22" presetClass="entr" presetSubtype="4" fill="hold" nodeType="withEffect">
                                  <p:stCondLst>
                                    <p:cond delay="25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wipe(down)">
                                      <p:cBhvr>
                                        <p:cTn id="21"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A9275ED-08D9-46A4-B9F9-36A81BD60561}"/>
              </a:ext>
            </a:extLst>
          </p:cNvPr>
          <p:cNvSpPr txBox="1">
            <a:spLocks/>
          </p:cNvSpPr>
          <p:nvPr/>
        </p:nvSpPr>
        <p:spPr>
          <a:xfrm>
            <a:off x="844347" y="847020"/>
            <a:ext cx="8203400" cy="1674799"/>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en-US" sz="4000" dirty="0"/>
              <a:t>2. God’s Grace Strengthens Us in Trials</a:t>
            </a:r>
            <a:endParaRPr lang="en-PH" sz="4000" dirty="0"/>
          </a:p>
        </p:txBody>
      </p:sp>
      <p:sp>
        <p:nvSpPr>
          <p:cNvPr id="6" name="TextBox 5">
            <a:extLst>
              <a:ext uri="{FF2B5EF4-FFF2-40B4-BE49-F238E27FC236}">
                <a16:creationId xmlns:a16="http://schemas.microsoft.com/office/drawing/2014/main" id="{D007EC7F-295F-454F-BF57-24021A731621}"/>
              </a:ext>
            </a:extLst>
          </p:cNvPr>
          <p:cNvSpPr txBox="1"/>
          <p:nvPr/>
        </p:nvSpPr>
        <p:spPr>
          <a:xfrm>
            <a:off x="1268127" y="1684419"/>
            <a:ext cx="9358163" cy="1446550"/>
          </a:xfrm>
          <a:prstGeom prst="rect">
            <a:avLst/>
          </a:prstGeom>
          <a:noFill/>
        </p:spPr>
        <p:txBody>
          <a:bodyPr wrap="square">
            <a:spAutoFit/>
          </a:bodyPr>
          <a:lstStyle/>
          <a:p>
            <a:r>
              <a:rPr lang="en-PH" sz="2400" dirty="0">
                <a:solidFill>
                  <a:srgbClr val="FF0000"/>
                </a:solidFill>
              </a:rPr>
              <a:t>2 Corinthians 12:9</a:t>
            </a:r>
          </a:p>
          <a:p>
            <a:endParaRPr lang="en-PH" sz="2400" dirty="0">
              <a:solidFill>
                <a:srgbClr val="FF0000"/>
              </a:solidFill>
            </a:endParaRPr>
          </a:p>
          <a:p>
            <a:r>
              <a:rPr lang="en-US" sz="2000" b="0" i="0" u="none" strike="noStrike" baseline="0" dirty="0">
                <a:latin typeface="Verdana" panose="020B0604030504040204" pitchFamily="34" charset="0"/>
              </a:rPr>
              <a:t>And he said unto me, My grace is sufficient for thee: for my strength is made perfect in weakness.</a:t>
            </a:r>
            <a:endParaRPr lang="en-PH" sz="2000" dirty="0">
              <a:solidFill>
                <a:srgbClr val="FF0000"/>
              </a:solidFill>
            </a:endParaRPr>
          </a:p>
        </p:txBody>
      </p:sp>
      <p:sp>
        <p:nvSpPr>
          <p:cNvPr id="9" name="TextBox 8">
            <a:extLst>
              <a:ext uri="{FF2B5EF4-FFF2-40B4-BE49-F238E27FC236}">
                <a16:creationId xmlns:a16="http://schemas.microsoft.com/office/drawing/2014/main" id="{242F7078-E0B6-4ECF-BB54-681CC100963C}"/>
              </a:ext>
            </a:extLst>
          </p:cNvPr>
          <p:cNvSpPr txBox="1"/>
          <p:nvPr/>
        </p:nvSpPr>
        <p:spPr>
          <a:xfrm>
            <a:off x="1268126" y="3746522"/>
            <a:ext cx="9358163" cy="1446550"/>
          </a:xfrm>
          <a:prstGeom prst="rect">
            <a:avLst/>
          </a:prstGeom>
          <a:noFill/>
        </p:spPr>
        <p:txBody>
          <a:bodyPr wrap="square">
            <a:spAutoFit/>
          </a:bodyPr>
          <a:lstStyle/>
          <a:p>
            <a:r>
              <a:rPr lang="en-PH" sz="2400" dirty="0">
                <a:solidFill>
                  <a:srgbClr val="FF0000"/>
                </a:solidFill>
              </a:rPr>
              <a:t>Hebrews 4:16</a:t>
            </a:r>
          </a:p>
          <a:p>
            <a:endParaRPr lang="en-PH" sz="2400" dirty="0">
              <a:solidFill>
                <a:srgbClr val="FF0000"/>
              </a:solidFill>
            </a:endParaRPr>
          </a:p>
          <a:p>
            <a:r>
              <a:rPr lang="en-US" sz="2000" b="0" i="0" u="none" strike="noStrike" baseline="0" dirty="0">
                <a:latin typeface="Verdana" panose="020B0604030504040204" pitchFamily="34" charset="0"/>
              </a:rPr>
              <a:t>Let us therefore come boldly unto the throne of grace, that we may obtain mercy, and find grace to help in time of need.</a:t>
            </a:r>
            <a:endParaRPr lang="en-PH" sz="2000" dirty="0">
              <a:solidFill>
                <a:srgbClr val="FF0000"/>
              </a:solidFill>
            </a:endParaRPr>
          </a:p>
        </p:txBody>
      </p:sp>
    </p:spTree>
    <p:extLst>
      <p:ext uri="{BB962C8B-B14F-4D97-AF65-F5344CB8AC3E}">
        <p14:creationId xmlns:p14="http://schemas.microsoft.com/office/powerpoint/2010/main" val="619289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25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25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wipe(down)">
                                      <p:cBhvr>
                                        <p:cTn id="10" dur="500"/>
                                        <p:tgtEl>
                                          <p:spTgt spid="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25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wipe(down)">
                                      <p:cBhvr>
                                        <p:cTn id="15" dur="500"/>
                                        <p:tgtEl>
                                          <p:spTgt spid="9">
                                            <p:txEl>
                                              <p:pRg st="0" end="0"/>
                                            </p:txEl>
                                          </p:spTgt>
                                        </p:tgtEl>
                                      </p:cBhvr>
                                    </p:animEffect>
                                  </p:childTnLst>
                                </p:cTn>
                              </p:par>
                              <p:par>
                                <p:cTn id="16" presetID="22" presetClass="entr" presetSubtype="4" fill="hold" nodeType="withEffect">
                                  <p:stCondLst>
                                    <p:cond delay="25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wipe(down)">
                                      <p:cBhvr>
                                        <p:cTn id="18"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A9275ED-08D9-46A4-B9F9-36A81BD60561}"/>
              </a:ext>
            </a:extLst>
          </p:cNvPr>
          <p:cNvSpPr txBox="1">
            <a:spLocks/>
          </p:cNvSpPr>
          <p:nvPr/>
        </p:nvSpPr>
        <p:spPr>
          <a:xfrm>
            <a:off x="844347" y="847020"/>
            <a:ext cx="8203400" cy="1674799"/>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en-US" sz="4000" dirty="0"/>
              <a:t>3. God’s Protection Keeps Us Safe</a:t>
            </a:r>
            <a:endParaRPr lang="en-PH" sz="4000" dirty="0"/>
          </a:p>
        </p:txBody>
      </p:sp>
      <p:sp>
        <p:nvSpPr>
          <p:cNvPr id="6" name="TextBox 5">
            <a:extLst>
              <a:ext uri="{FF2B5EF4-FFF2-40B4-BE49-F238E27FC236}">
                <a16:creationId xmlns:a16="http://schemas.microsoft.com/office/drawing/2014/main" id="{D007EC7F-295F-454F-BF57-24021A731621}"/>
              </a:ext>
            </a:extLst>
          </p:cNvPr>
          <p:cNvSpPr txBox="1"/>
          <p:nvPr/>
        </p:nvSpPr>
        <p:spPr>
          <a:xfrm>
            <a:off x="1268127" y="1684419"/>
            <a:ext cx="9358163" cy="1538883"/>
          </a:xfrm>
          <a:prstGeom prst="rect">
            <a:avLst/>
          </a:prstGeom>
          <a:noFill/>
        </p:spPr>
        <p:txBody>
          <a:bodyPr wrap="square">
            <a:spAutoFit/>
          </a:bodyPr>
          <a:lstStyle/>
          <a:p>
            <a:r>
              <a:rPr lang="en-PH" sz="2000" dirty="0">
                <a:solidFill>
                  <a:srgbClr val="FF0000"/>
                </a:solidFill>
              </a:rPr>
              <a:t>Psalm 121:7–8</a:t>
            </a:r>
          </a:p>
          <a:p>
            <a:endParaRPr lang="en-PH" sz="2000" dirty="0">
              <a:solidFill>
                <a:srgbClr val="FF0000"/>
              </a:solidFill>
            </a:endParaRPr>
          </a:p>
          <a:p>
            <a:r>
              <a:rPr lang="en-US" b="0" i="0" u="none" strike="noStrike" baseline="0" dirty="0">
                <a:latin typeface="Verdana" panose="020B0604030504040204" pitchFamily="34" charset="0"/>
              </a:rPr>
              <a:t>The Lord shall preserve thee from all evil: he shall preserve thy </a:t>
            </a:r>
            <a:r>
              <a:rPr lang="en-US" b="0" i="0" u="none" strike="noStrike" baseline="0" dirty="0" err="1">
                <a:latin typeface="Verdana" panose="020B0604030504040204" pitchFamily="34" charset="0"/>
              </a:rPr>
              <a:t>soul.The</a:t>
            </a:r>
            <a:r>
              <a:rPr lang="en-US" b="0" i="0" u="none" strike="noStrike" baseline="0" dirty="0">
                <a:latin typeface="Verdana" panose="020B0604030504040204" pitchFamily="34" charset="0"/>
              </a:rPr>
              <a:t> Lord shall preserve thy going out and thy coming in from this time forth, and even for evermore.</a:t>
            </a:r>
            <a:endParaRPr lang="en-PH" dirty="0">
              <a:solidFill>
                <a:srgbClr val="FF0000"/>
              </a:solidFill>
            </a:endParaRPr>
          </a:p>
        </p:txBody>
      </p:sp>
      <p:sp>
        <p:nvSpPr>
          <p:cNvPr id="9" name="TextBox 8">
            <a:extLst>
              <a:ext uri="{FF2B5EF4-FFF2-40B4-BE49-F238E27FC236}">
                <a16:creationId xmlns:a16="http://schemas.microsoft.com/office/drawing/2014/main" id="{242F7078-E0B6-4ECF-BB54-681CC100963C}"/>
              </a:ext>
            </a:extLst>
          </p:cNvPr>
          <p:cNvSpPr txBox="1"/>
          <p:nvPr/>
        </p:nvSpPr>
        <p:spPr>
          <a:xfrm>
            <a:off x="1268127" y="3326692"/>
            <a:ext cx="9358163" cy="1261884"/>
          </a:xfrm>
          <a:prstGeom prst="rect">
            <a:avLst/>
          </a:prstGeom>
          <a:noFill/>
        </p:spPr>
        <p:txBody>
          <a:bodyPr wrap="square">
            <a:spAutoFit/>
          </a:bodyPr>
          <a:lstStyle/>
          <a:p>
            <a:r>
              <a:rPr lang="en-PH" sz="2000" dirty="0">
                <a:solidFill>
                  <a:srgbClr val="FF0000"/>
                </a:solidFill>
              </a:rPr>
              <a:t>Psalm 34:7</a:t>
            </a:r>
          </a:p>
          <a:p>
            <a:endParaRPr lang="en-PH" sz="2000" dirty="0">
              <a:solidFill>
                <a:srgbClr val="FF0000"/>
              </a:solidFill>
            </a:endParaRPr>
          </a:p>
          <a:p>
            <a:r>
              <a:rPr lang="en-US" b="0" i="0" u="none" strike="noStrike" baseline="0" dirty="0">
                <a:latin typeface="Verdana" panose="020B0604030504040204" pitchFamily="34" charset="0"/>
              </a:rPr>
              <a:t>The angel of the Lord </a:t>
            </a:r>
            <a:r>
              <a:rPr lang="en-US" b="0" i="0" u="none" strike="noStrike" baseline="0" dirty="0" err="1">
                <a:latin typeface="Verdana" panose="020B0604030504040204" pitchFamily="34" charset="0"/>
              </a:rPr>
              <a:t>encampeth</a:t>
            </a:r>
            <a:r>
              <a:rPr lang="en-US" b="0" i="0" u="none" strike="noStrike" baseline="0" dirty="0">
                <a:latin typeface="Verdana" panose="020B0604030504040204" pitchFamily="34" charset="0"/>
              </a:rPr>
              <a:t> round about them that fear him, and </a:t>
            </a:r>
            <a:r>
              <a:rPr lang="en-US" b="0" i="0" u="none" strike="noStrike" baseline="0" dirty="0" err="1">
                <a:latin typeface="Verdana" panose="020B0604030504040204" pitchFamily="34" charset="0"/>
              </a:rPr>
              <a:t>delivereth</a:t>
            </a:r>
            <a:r>
              <a:rPr lang="en-US" b="0" i="0" u="none" strike="noStrike" baseline="0" dirty="0">
                <a:latin typeface="Verdana" panose="020B0604030504040204" pitchFamily="34" charset="0"/>
              </a:rPr>
              <a:t> them.</a:t>
            </a:r>
            <a:endParaRPr lang="en-PH" dirty="0">
              <a:solidFill>
                <a:srgbClr val="FF0000"/>
              </a:solidFill>
            </a:endParaRPr>
          </a:p>
        </p:txBody>
      </p:sp>
      <p:sp>
        <p:nvSpPr>
          <p:cNvPr id="5" name="TextBox 4">
            <a:extLst>
              <a:ext uri="{FF2B5EF4-FFF2-40B4-BE49-F238E27FC236}">
                <a16:creationId xmlns:a16="http://schemas.microsoft.com/office/drawing/2014/main" id="{9CE1B423-8C27-425F-9699-C7BC2D6AD564}"/>
              </a:ext>
            </a:extLst>
          </p:cNvPr>
          <p:cNvSpPr txBox="1"/>
          <p:nvPr/>
        </p:nvSpPr>
        <p:spPr>
          <a:xfrm>
            <a:off x="1268126" y="4667553"/>
            <a:ext cx="9358163" cy="984885"/>
          </a:xfrm>
          <a:prstGeom prst="rect">
            <a:avLst/>
          </a:prstGeom>
          <a:noFill/>
        </p:spPr>
        <p:txBody>
          <a:bodyPr wrap="square">
            <a:spAutoFit/>
          </a:bodyPr>
          <a:lstStyle/>
          <a:p>
            <a:r>
              <a:rPr lang="en-PH" sz="2000" dirty="0">
                <a:solidFill>
                  <a:srgbClr val="FF0000"/>
                </a:solidFill>
              </a:rPr>
              <a:t>Isaiah 54:17</a:t>
            </a:r>
          </a:p>
          <a:p>
            <a:endParaRPr lang="en-PH" sz="2000" dirty="0">
              <a:solidFill>
                <a:srgbClr val="FF0000"/>
              </a:solidFill>
            </a:endParaRPr>
          </a:p>
          <a:p>
            <a:r>
              <a:rPr lang="en-US" dirty="0">
                <a:latin typeface="Verdana" panose="020B0604030504040204" pitchFamily="34" charset="0"/>
                <a:ea typeface="Verdana" panose="020B0604030504040204" pitchFamily="34" charset="0"/>
              </a:rPr>
              <a:t>No weapon that is formed against thee shall prosper.</a:t>
            </a:r>
            <a:endParaRPr lang="en-PH" sz="16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7679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25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25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wipe(down)">
                                      <p:cBhvr>
                                        <p:cTn id="10" dur="500"/>
                                        <p:tgtEl>
                                          <p:spTgt spid="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25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wipe(down)">
                                      <p:cBhvr>
                                        <p:cTn id="15" dur="500"/>
                                        <p:tgtEl>
                                          <p:spTgt spid="9">
                                            <p:txEl>
                                              <p:pRg st="0" end="0"/>
                                            </p:txEl>
                                          </p:spTgt>
                                        </p:tgtEl>
                                      </p:cBhvr>
                                    </p:animEffect>
                                  </p:childTnLst>
                                </p:cTn>
                              </p:par>
                              <p:par>
                                <p:cTn id="16" presetID="22" presetClass="entr" presetSubtype="4" fill="hold" nodeType="withEffect">
                                  <p:stCondLst>
                                    <p:cond delay="25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wipe(down)">
                                      <p:cBhvr>
                                        <p:cTn id="18" dur="5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25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wipe(down)">
                                      <p:cBhvr>
                                        <p:cTn id="23" dur="500"/>
                                        <p:tgtEl>
                                          <p:spTgt spid="5">
                                            <p:txEl>
                                              <p:pRg st="0" end="0"/>
                                            </p:txEl>
                                          </p:spTgt>
                                        </p:tgtEl>
                                      </p:cBhvr>
                                    </p:animEffect>
                                  </p:childTnLst>
                                </p:cTn>
                              </p:par>
                              <p:par>
                                <p:cTn id="24" presetID="22" presetClass="entr" presetSubtype="4" fill="hold" nodeType="withEffect">
                                  <p:stCondLst>
                                    <p:cond delay="25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wipe(down)">
                                      <p:cBhvr>
                                        <p:cTn id="26"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5700D-F39C-4D06-A3BE-583BE92E9318}"/>
              </a:ext>
            </a:extLst>
          </p:cNvPr>
          <p:cNvSpPr>
            <a:spLocks noGrp="1"/>
          </p:cNvSpPr>
          <p:nvPr>
            <p:ph type="ctrTitle"/>
          </p:nvPr>
        </p:nvSpPr>
        <p:spPr>
          <a:xfrm>
            <a:off x="2692399" y="1942338"/>
            <a:ext cx="6663358" cy="1515533"/>
          </a:xfrm>
        </p:spPr>
        <p:txBody>
          <a:bodyPr/>
          <a:lstStyle/>
          <a:p>
            <a:r>
              <a:rPr lang="en-PH" dirty="0"/>
              <a:t>CLOSING VERSE:</a:t>
            </a:r>
          </a:p>
        </p:txBody>
      </p:sp>
      <p:sp>
        <p:nvSpPr>
          <p:cNvPr id="3" name="Subtitle 2">
            <a:extLst>
              <a:ext uri="{FF2B5EF4-FFF2-40B4-BE49-F238E27FC236}">
                <a16:creationId xmlns:a16="http://schemas.microsoft.com/office/drawing/2014/main" id="{5C20D3F4-BCDE-4E3D-9A17-DDF9B521EE8E}"/>
              </a:ext>
            </a:extLst>
          </p:cNvPr>
          <p:cNvSpPr>
            <a:spLocks noGrp="1"/>
          </p:cNvSpPr>
          <p:nvPr>
            <p:ph type="subTitle" idx="1"/>
          </p:nvPr>
        </p:nvSpPr>
        <p:spPr>
          <a:xfrm>
            <a:off x="2759775" y="3657597"/>
            <a:ext cx="6826987" cy="1674799"/>
          </a:xfrm>
        </p:spPr>
        <p:txBody>
          <a:bodyPr>
            <a:normAutofit/>
          </a:bodyPr>
          <a:lstStyle/>
          <a:p>
            <a:pPr algn="l"/>
            <a:r>
              <a:rPr lang="en-US" sz="2800" dirty="0">
                <a:solidFill>
                  <a:srgbClr val="FF0000"/>
                </a:solidFill>
              </a:rPr>
              <a:t>Psalm 46:1</a:t>
            </a:r>
          </a:p>
          <a:p>
            <a:pPr algn="l"/>
            <a:r>
              <a:rPr lang="en-US" sz="1800" b="0" i="0" u="none" strike="noStrike" baseline="0" dirty="0">
                <a:latin typeface="Verdana" panose="020B0604030504040204" pitchFamily="34" charset="0"/>
              </a:rPr>
              <a:t>God is our refuge and strength, a very present help in trouble.</a:t>
            </a:r>
          </a:p>
          <a:p>
            <a:endParaRPr lang="en-PH" sz="2800" dirty="0"/>
          </a:p>
        </p:txBody>
      </p:sp>
    </p:spTree>
    <p:extLst>
      <p:ext uri="{BB962C8B-B14F-4D97-AF65-F5344CB8AC3E}">
        <p14:creationId xmlns:p14="http://schemas.microsoft.com/office/powerpoint/2010/main" val="399566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5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25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1465</TotalTime>
  <Words>289</Words>
  <Application>Microsoft Office PowerPoint</Application>
  <PresentationFormat>Widescreen</PresentationFormat>
  <Paragraphs>32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Garamond</vt:lpstr>
      <vt:lpstr>Verdana</vt:lpstr>
      <vt:lpstr>Organic</vt:lpstr>
      <vt:lpstr>God’s Grace and Protection</vt:lpstr>
      <vt:lpstr>PowerPoint Presentation</vt:lpstr>
      <vt:lpstr>PowerPoint Presentation</vt:lpstr>
      <vt:lpstr>PowerPoint Presentation</vt:lpstr>
      <vt:lpstr>CLOSING VERSE: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God’s Grace and Protection</dc:title>
  <dc:creator>Patrick</dc:creator>
  <cp:lastModifiedBy>Patrick</cp:lastModifiedBy>
  <cp:revision>1</cp:revision>
  <dcterms:created xsi:type="dcterms:W3CDTF">2025-10-23T07:30:01Z</dcterms:created>
  <dcterms:modified xsi:type="dcterms:W3CDTF">2025-10-24T07:55:28Z</dcterms:modified>
</cp:coreProperties>
</file>